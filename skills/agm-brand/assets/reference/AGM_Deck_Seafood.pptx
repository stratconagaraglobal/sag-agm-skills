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2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band_sea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6000"/>
            <a:ext cx="12192011" cy="1872000"/>
          </a:xfrm>
          <a:prstGeom prst="rect">
            <a:avLst/>
          </a:prstGeom>
        </p:spPr>
      </p:pic>
      <p:pic>
        <p:nvPicPr>
          <p:cNvPr id="3" name="Picture 2" descr="agm-emble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720000"/>
            <a:ext cx="655097" cy="6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000" y="1728000"/>
            <a:ext cx="8063048" cy="2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spc="110">
                <a:solidFill>
                  <a:srgbClr val="C9DCEF"/>
                </a:solidFill>
                <a:latin typeface="Plus Jakarta Sans ExtraBold"/>
              </a:rPr>
              <a:t>PT AGARA GLOBAL MARITIM</a:t>
            </a:r>
          </a:p>
          <a:p>
            <a:pPr algn="l">
              <a:lnSpc>
                <a:spcPct val="92000"/>
              </a:lnSpc>
              <a:spcBef>
                <a:spcPts val="1000"/>
              </a:spcBef>
              <a:spcAft>
                <a:spcPts val="0"/>
              </a:spcAft>
            </a:pPr>
            <a:r>
              <a:rPr sz="4000" spc="-80">
                <a:solidFill>
                  <a:srgbClr val="F5F9FD"/>
                </a:solidFill>
                <a:latin typeface="Plus Jakarta Sans ExtraBold"/>
              </a:rPr>
              <a:t>Deck Title Goes Here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>
                <a:solidFill>
                  <a:srgbClr val="C9DCEF"/>
                </a:solidFill>
                <a:latin typeface="Plus Jakarta Sans Medium"/>
              </a:rPr>
              <a:t>Subtitle line — what this deck is for and who it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24011" y="8640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spc="140">
                <a:solidFill>
                  <a:srgbClr val="C9DCEF"/>
                </a:solidFill>
                <a:latin typeface="Plus Jakarta Sans SemiBold"/>
              </a:rPr>
              <a:t>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7600"/>
          </a:xfrm>
          <a:prstGeom prst="rect">
            <a:avLst/>
          </a:prstGeom>
          <a:solidFill>
            <a:srgbClr val="398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2493000"/>
            <a:ext cx="10896011" cy="18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spc="-100">
                <a:solidFill>
                  <a:srgbClr val="3980C3"/>
                </a:solidFill>
                <a:latin typeface="Plus Jakarta Sans ExtraBold"/>
              </a:rPr>
              <a:t>01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3400" spc="-70">
                <a:solidFill>
                  <a:srgbClr val="F5F9FD"/>
                </a:solidFill>
                <a:latin typeface="Plus Jakarta Sans ExtraBold"/>
              </a:rPr>
              <a:t>Section Title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>
                <a:solidFill>
                  <a:srgbClr val="C9DCEF"/>
                </a:solidFill>
                <a:latin typeface="Plus Jakarta Sans Medium"/>
              </a:rPr>
              <a:t>What this section covers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720000"/>
            <a:ext cx="10896011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spc="160">
                <a:solidFill>
                  <a:srgbClr val="3980C3"/>
                </a:solidFill>
                <a:latin typeface="Plus Jakarta Sans ExtraBold"/>
              </a:rPr>
              <a:t>SECTION EYEBROW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2800" spc="-60">
                <a:solidFill>
                  <a:srgbClr val="012864"/>
                </a:solidFill>
                <a:latin typeface="Plus Jakarta Sans ExtraBold"/>
              </a:rPr>
              <a:t>Headline that states the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1944000"/>
            <a:ext cx="1224000" cy="43200"/>
          </a:xfrm>
          <a:prstGeom prst="rect">
            <a:avLst/>
          </a:prstGeom>
          <a:solidFill>
            <a:srgbClr val="398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2304000"/>
            <a:ext cx="8934729" cy="3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FB4DA"/>
                </a:solidFill>
                <a:latin typeface="Plus Jakarta Sans ExtraBold"/>
              </a:rPr>
              <a:t>—   </a:t>
            </a:r>
            <a:r>
              <a:rPr sz="1300">
                <a:solidFill>
                  <a:srgbClr val="3F4F63"/>
                </a:solidFill>
                <a:latin typeface="Plus Jakarta Sans"/>
              </a:rPr>
              <a:t>First supporting point. One idea per line, written as a statement rather than a label.</a:t>
            </a:r>
          </a:p>
          <a:p>
            <a:pPr algn="l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</a:pPr>
            <a:r>
              <a:rPr sz="1300">
                <a:solidFill>
                  <a:srgbClr val="8FB4DA"/>
                </a:solidFill>
                <a:latin typeface="Plus Jakarta Sans ExtraBold"/>
              </a:rPr>
              <a:t>—   </a:t>
            </a:r>
            <a:r>
              <a:rPr sz="1300">
                <a:solidFill>
                  <a:srgbClr val="3F4F63"/>
                </a:solidFill>
                <a:latin typeface="Plus Jakarta Sans"/>
              </a:rPr>
              <a:t>Second supporting point, long enough to show how a line wraps against the measure and keeps its leading.</a:t>
            </a:r>
          </a:p>
          <a:p>
            <a:pPr algn="l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</a:pPr>
            <a:r>
              <a:rPr sz="1300">
                <a:solidFill>
                  <a:srgbClr val="8FB4DA"/>
                </a:solidFill>
                <a:latin typeface="Plus Jakarta Sans ExtraBold"/>
              </a:rPr>
              <a:t>—   </a:t>
            </a:r>
            <a:r>
              <a:rPr sz="1300">
                <a:solidFill>
                  <a:srgbClr val="3F4F63"/>
                </a:solidFill>
                <a:latin typeface="Plus Jakarta Sans"/>
              </a:rPr>
              <a:t>Third supporting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6354000"/>
            <a:ext cx="10896011" cy="12600"/>
          </a:xfrm>
          <a:prstGeom prst="rect">
            <a:avLst/>
          </a:prstGeom>
          <a:solidFill>
            <a:srgbClr val="8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6462000"/>
            <a:ext cx="762720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55657A"/>
                </a:solidFill>
                <a:latin typeface="Plus Jakarta Sans Medium"/>
              </a:rPr>
              <a:t>Premium Indonesian sea cucumber, processed to a higher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011" y="6462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55657A"/>
                </a:solidFill>
                <a:latin typeface="Plus Jakarta Sans SemiBold"/>
              </a:rPr>
              <a:t>PT Agara Global Maritim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720000"/>
            <a:ext cx="10896011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spc="160">
                <a:solidFill>
                  <a:srgbClr val="3980C3"/>
                </a:solidFill>
                <a:latin typeface="Plus Jakarta Sans ExtraBold"/>
              </a:rPr>
              <a:t>SECTION EYEBROW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2800" spc="-60">
                <a:solidFill>
                  <a:srgbClr val="012864"/>
                </a:solidFill>
                <a:latin typeface="Plus Jakarta Sans ExtraBold"/>
              </a:rPr>
              <a:t>Three things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1944000"/>
            <a:ext cx="1224000" cy="43200"/>
          </a:xfrm>
          <a:prstGeom prst="rect">
            <a:avLst/>
          </a:prstGeom>
          <a:solidFill>
            <a:srgbClr val="398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2520000"/>
            <a:ext cx="3440003" cy="2016000"/>
          </a:xfrm>
          <a:prstGeom prst="roundRect">
            <a:avLst>
              <a:gd name="adj" fmla="val 5357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2000" y="2808000"/>
            <a:ext cx="576000" cy="43200"/>
          </a:xfrm>
          <a:prstGeom prst="rect">
            <a:avLst/>
          </a:prstGeom>
          <a:solidFill>
            <a:srgbClr val="398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000" y="3096000"/>
            <a:ext cx="2792003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spc="-30">
                <a:solidFill>
                  <a:srgbClr val="012864"/>
                </a:solidFill>
                <a:latin typeface="Plus Jakarta Sans ExtraBold"/>
              </a:rPr>
              <a:t>Regulatory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100">
                <a:solidFill>
                  <a:srgbClr val="3F4F63"/>
                </a:solidFill>
                <a:latin typeface="Plus Jakarta Sans"/>
              </a:rPr>
              <a:t>Permits, licensing and the approvals pathway, mapped against the responsible ministry.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6003" y="2520000"/>
            <a:ext cx="3440003" cy="2016000"/>
          </a:xfrm>
          <a:prstGeom prst="roundRect">
            <a:avLst>
              <a:gd name="adj" fmla="val 5357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0003" y="2808000"/>
            <a:ext cx="576000" cy="43200"/>
          </a:xfrm>
          <a:prstGeom prst="rect">
            <a:avLst/>
          </a:prstGeom>
          <a:solidFill>
            <a:srgbClr val="398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03" y="3096000"/>
            <a:ext cx="2792003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spc="-30">
                <a:solidFill>
                  <a:srgbClr val="012864"/>
                </a:solidFill>
                <a:latin typeface="Plus Jakarta Sans ExtraBold"/>
              </a:rPr>
              <a:t>Commercial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100">
                <a:solidFill>
                  <a:srgbClr val="3F4F63"/>
                </a:solidFill>
                <a:latin typeface="Plus Jakarta Sans"/>
              </a:rPr>
              <a:t>Cost structure, who carries which cost, and where the commercial risk actually 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4007" y="2520000"/>
            <a:ext cx="3440003" cy="2016000"/>
          </a:xfrm>
          <a:prstGeom prst="roundRect">
            <a:avLst>
              <a:gd name="adj" fmla="val 5357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28007" y="2808000"/>
            <a:ext cx="576000" cy="43200"/>
          </a:xfrm>
          <a:prstGeom prst="rect">
            <a:avLst/>
          </a:prstGeom>
          <a:solidFill>
            <a:srgbClr val="398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8007" y="3096000"/>
            <a:ext cx="2792003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spc="-30">
                <a:solidFill>
                  <a:srgbClr val="012864"/>
                </a:solidFill>
                <a:latin typeface="Plus Jakarta Sans ExtraBold"/>
              </a:rPr>
              <a:t>Delivery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100">
                <a:solidFill>
                  <a:srgbClr val="3F4F63"/>
                </a:solidFill>
                <a:latin typeface="Plus Jakarta Sans"/>
              </a:rPr>
              <a:t>Sequence, milestones and the decisions that have to be made before each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" y="6354000"/>
            <a:ext cx="10896011" cy="12600"/>
          </a:xfrm>
          <a:prstGeom prst="rect">
            <a:avLst/>
          </a:prstGeom>
          <a:solidFill>
            <a:srgbClr val="8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6462000"/>
            <a:ext cx="762720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55657A"/>
                </a:solidFill>
                <a:latin typeface="Plus Jakarta Sans Medium"/>
              </a:rPr>
              <a:t>Premium Indonesian sea cucumber, processed to a higher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011" y="6462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55657A"/>
                </a:solidFill>
                <a:latin typeface="Plus Jakarta Sans SemiBold"/>
              </a:rPr>
              <a:t>PT Agara Global Maritim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2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band_sea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6000"/>
            <a:ext cx="12192011" cy="1872000"/>
          </a:xfrm>
          <a:prstGeom prst="rect">
            <a:avLst/>
          </a:prstGeom>
        </p:spPr>
      </p:pic>
      <p:pic>
        <p:nvPicPr>
          <p:cNvPr id="3" name="Picture 2" descr="agm-emble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720000"/>
            <a:ext cx="655097" cy="6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000" y="1872000"/>
            <a:ext cx="7627208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spc="180">
                <a:solidFill>
                  <a:srgbClr val="C9DCEF"/>
                </a:solidFill>
                <a:latin typeface="Plus Jakarta Sans ExtraBold"/>
              </a:rPr>
              <a:t>YOUR CONTACT AT PT AGARA GLOBAL MARITIM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2600" spc="-50">
                <a:solidFill>
                  <a:srgbClr val="F5F9FD"/>
                </a:solidFill>
                <a:latin typeface="Plus Jakarta Sans ExtraBold"/>
              </a:rPr>
              <a:t>Name Surname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>
                <a:solidFill>
                  <a:srgbClr val="EAF3FB"/>
                </a:solidFill>
                <a:latin typeface="Plus Jakarta Sans SemiBold"/>
              </a:rPr>
              <a:t>Role title</a:t>
            </a:r>
            <a:r>
              <a:rPr sz="1250">
                <a:solidFill>
                  <a:srgbClr val="C9DCEF"/>
                </a:solidFill>
                <a:latin typeface="Plus Jakarta Sans"/>
              </a:rPr>
              <a:t>   ·   </a:t>
            </a:r>
            <a:r>
              <a:rPr sz="1250">
                <a:solidFill>
                  <a:srgbClr val="C9DCEF"/>
                </a:solidFill>
                <a:latin typeface="Plus Jakarta Sans Medium"/>
              </a:rPr>
              <a:t>PT Agara Global Maritim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>
                <a:solidFill>
                  <a:srgbClr val="EAF3FB"/>
                </a:solidFill>
                <a:latin typeface="Plus Jakarta Sans SemiBold"/>
              </a:rPr>
              <a:t>corporate@stratconagaraglobal.com</a:t>
            </a:r>
            <a:r>
              <a:rPr sz="1250">
                <a:solidFill>
                  <a:srgbClr val="C9DCEF"/>
                </a:solidFill>
                <a:latin typeface="Plus Jakarta Sans"/>
              </a:rPr>
              <a:t>   ·   </a:t>
            </a:r>
            <a:r>
              <a:rPr sz="1250">
                <a:solidFill>
                  <a:srgbClr val="C9DCEF"/>
                </a:solidFill>
                <a:latin typeface="Plus Jakarta Sans"/>
              </a:rPr>
              <a:t>+62 819-231-001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